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esteemed panel members and guests. Today I present the New Life College Digital Voting Platform—an institutional solution designed to replace vulnerable legacy voting setups with a cryptographically secure, privacy-preserving digital voting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Forms violated the fundamental democratic right to secret balloting because spreadsheet columns link names to votes. Our project solves this through a mathematically isolated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728655" cy="51206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🏛️ NEW LIFE COLLEGE (NLC) • ELECTORAL COMMISSION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Design &amp; Implementation of a Secure, Containerized Digital Voting System</a:t>
            </a:r>
          </a:p>
          <a:p>
            <a:pPr>
              <a:spcBef>
                <a:spcPts val="800"/>
              </a:spcBef>
              <a:defRPr sz="1600">
                <a:solidFill>
                  <a:srgbClr val="06D6A0"/>
                </a:solidFill>
              </a:defRPr>
            </a:pPr>
            <a:r>
              <a:t>Featuring Closed-Loop WhatsApp OTP Verification, Cryptographic Ballot Decoupling &amp; Real-Time Telemetry</a:t>
            </a:r>
          </a:p>
          <a:p>
            <a:br/>
            <a:pPr>
              <a:spcBef>
                <a:spcPts val="1600"/>
              </a:spcBef>
              <a:defRPr sz="1300">
                <a:solidFill>
                  <a:srgbClr val="CBD5E1"/>
                </a:solidFill>
              </a:defRPr>
            </a:pPr>
            <a:r>
              <a:t>• Stakeholders: Electoral Commission (EC) &amp; Student Representative Council (SRC)</a:t>
            </a:r>
            <a:br/>
            <a:r>
              <a:t>• Architecture: Next.js 14, Express REST API, MySQL 8 InnoDB, Docker Multi-Stage</a:t>
            </a:r>
            <a:br/>
            <a:r>
              <a:t>• Academic Year: 2026/2027 General Elections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BACKGROUND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Crisis of Legacy Voting Channels in Higher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🗳️ Paper Balloting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❌ Severe Inefficiencies:</a:t>
            </a:r>
            <a:br/>
            <a:r>
              <a:t>• Massive printing &amp; logistics expenditure</a:t>
            </a:r>
            <a:br/>
            <a:r>
              <a:t>• Long physical queues causing disenfranchisement</a:t>
            </a:r>
            <a:br/>
            <a:r>
              <a:t>• Human collation errors and contested ballot counts</a:t>
            </a:r>
            <a:br/>
            <a:r>
              <a:t>• High risk of physical ballot stuffing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📋 Google Forms Setup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❌ Privacy &amp; Integrity Flaws:</a:t>
            </a:r>
            <a:br/>
            <a:r>
              <a:t>• Inevitably links Student ID/Email to candidate choices in spreadsheet</a:t>
            </a:r>
            <a:br/>
            <a:r>
              <a:t>• Zero ballot secrecy (GDPR/privacy violation)</a:t>
            </a:r>
            <a:br/>
            <a:r>
              <a:t>• Easy voter impersonation using peers' index numbers</a:t>
            </a:r>
            <a:br/>
            <a:r>
              <a:t>• No hardware/device ownership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D6A0"/>
                </a:solidFill>
              </a:defRPr>
            </a:pPr>
            <a:r>
              <a:t>✨ NLC Digital Engine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✅ Institutional Transformation:</a:t>
            </a:r>
            <a:br/>
            <a:r>
              <a:t>• 100% Secret Ballot (Two-Box Schema)</a:t>
            </a:r>
            <a:br/>
            <a:r>
              <a:t>• Multi-factor WhatsApp OTP Authentication</a:t>
            </a:r>
            <a:br/>
            <a:r>
              <a:t>• Instant zero-latency automated tallying</a:t>
            </a:r>
            <a:br/>
            <a:r>
              <a:t>• Zero-trust cryptographic receipt vouchers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PROJECT GOALS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Five Fundamental Engineering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🔒 1. Mathematical Ballot Secrecy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Complete architectural separation between voter accreditation (Box 1) and anonymous cast ballots (Box 2) with ZERO foreign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868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D6A0"/>
                </a:solidFill>
              </a:defRPr>
            </a:pPr>
            <a:r>
              <a:t>📱 2. Zero-Cost WhatsApp OTP Auth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Automated 6-digit OTP delivery routed strictly through pre-registered student phone records via the self-hosted Levanter API gateway.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728655" cy="868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⚡ 3. ACID Concurrency Protection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Pessimistic MySQL row-level locking (SELECT ... FOR UPDATE) preventing race conditions, simultaneous tab voting, and duplicate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10728655" cy="868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📊 4. Instant Live Telemetry &amp; Audit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Public real-time results dashboards, turnout analytics, winner badges, and downloadable Excel tallies for election certification.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D6A0"/>
                </a:solidFill>
              </a:defRPr>
            </a:pPr>
            <a:r>
              <a:t>🐳 5. Enterprise Containerization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Turnkey deployment using Docker Compose orchestrating Next.js, Express REST API, and isolated MySQL database on internal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CORE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Decoupled 'Two-Box' Database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📦 BOX 1: Voter Ledger (voter_ledger)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Purpose: Identity Accreditation &amp; Voting Status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student_id (VARCHAR PK) - Institutional ID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full_name (VARCHAR) - Legal Student Name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department &amp; level (VARCHAR) - Academic metadata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phone_number (VARCHAR) - E.164 WhatsApp number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has_voted (BOOLEAN) - State toggle (Default: FALSE)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otp_hash (VARCHAR 64) - SHA-256 OTP digest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otp_expires_at (TIMESTAMP) - 5-min TTL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645920"/>
            <a:ext cx="50292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🗳️ BOX 2: Anonymous Cast Ballots (votes)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Purpose: Secret Ballot Retention (Zero User Traceability)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vote_id (INT AUTO_INCREMENT PK)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election_id (VARCHAR) - e.g. 'el-nlc-2026'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position_id (VARCHAR) - e.g. 'pos-pres'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candidate_id (VARCHAR) - e.g. 'cand-pres-1'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created_at (TIMESTAMP) - Submission time</a:t>
            </a:r>
          </a:p>
          <a:p>
            <a:pPr>
              <a:defRPr sz="1100">
                <a:solidFill>
                  <a:srgbClr val="CBD5E1"/>
                </a:solidFill>
              </a:defRPr>
            </a:pP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🚫 STRICT GUARANTEE: ZERO Foreign Keys, NO student_id, NO phone number, NO session tokens in this table!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MULTI-FACTOR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Closed-Loop WhatsApp OTP Gateway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Step 1: ID Submission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Voter submits official Student ID (e.g. NLC/2024/001). Backend queries voter_ledger to ensure accreditation and has_voted == FALSE.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D6A0"/>
                </a:solidFill>
              </a:defRPr>
            </a:pPr>
            <a:r>
              <a:t>Step 2: OTP Generation &amp; Hashing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Backend creates 6-digit numeric OTP (crypto.randomInt) and stores only its SHA-256 hash with a 5-minute expiration timestamp.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Step 3: WhatsApp Dispatch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Backend invokes Levanter WhatsApp Bot API over secure HTTPS to deliver the OTP code directly to student's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Step 4: Verification &amp; Booth Entry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Voter enters 6-digit OTP into 6-box UI; backend verifies hash match and issues time-bounded JWT voting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DATABASE TRANSACTION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ACID Guarantees &amp; Pessimistic Row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⚙️ Atomic Ballot Transaction SQL Flow</a:t>
            </a:r>
          </a:p>
          <a:p>
            <a:pPr>
              <a:defRPr sz="950">
                <a:solidFill>
                  <a:srgbClr val="06D6A0"/>
                </a:solidFill>
                <a:latin typeface="Consolas"/>
              </a:defRPr>
            </a:pPr>
            <a:r>
              <a:t>START TRANSACTION;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-- 1. Exclusive Row Lock (Blocks Concurrent Attempts)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SELECT has_voted, otp_hash, otp_expires_at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FROM voter_ledger WHERE student_id = ? FOR UPDATE;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-- 2. Validate OTP Hash &amp; Expiration (Rollback if failed)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-- 3. Invalidate OTP &amp; Mark as Voted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UPDATE voter_ledger SET has_voted = TRUE, otp_hash = NULL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WHERE student_id = ?;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-- 4. Insert Anonymous Votes (Completely Unlinked)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INSERT INTO votes (election_id, position_id, candidate_id)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  <a:r>
              <a:t>VALUES ('el-nlc-2026', 'pos-pres', 'cand-pres-1');</a:t>
            </a:r>
          </a:p>
          <a:p>
            <a:pPr>
              <a:defRPr sz="950">
                <a:solidFill>
                  <a:srgbClr val="CBD5E1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06D6A0"/>
                </a:solidFill>
                <a:latin typeface="Consolas"/>
              </a:defRPr>
            </a:pPr>
            <a:r>
              <a:t>COMMIT; -- Complete or Rollback Entirely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4510735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14497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🛡️ Concurrency Guarantees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Race Condition Proof: If a voter submits across multiple tabs, the 1st request holds the exclusive lock; 2nd request is instantly rejected (403 Already Voted).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Single-Use OTPs: OTP hash is wiped during transaction commit, preventing replay attacks.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Crash Resilience: Any unhandled exception causes an immediate ROLLBACK, leaving zero partial records.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WhatsApp Receipt: Asynchronous post-commit confirmation sent to voter's WhatsApp.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USER EXPERIENCE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Voter Journey in Under 60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10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1. Register (/register)</a:t>
            </a:r>
          </a:p>
          <a:p>
            <a:br/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Student self-registers with ID &amp; WhatsApp number. Enters approval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45920"/>
            <a:ext cx="1993392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828800"/>
            <a:ext cx="1810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D6A0"/>
                </a:solidFill>
              </a:defRPr>
            </a:pPr>
            <a:r>
              <a:t>2. Authenticate (/)</a:t>
            </a:r>
          </a:p>
          <a:p>
            <a:br/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Enters Student ID -&gt; Receives 6-digit WhatsApp OTP -&gt; Verifies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1993392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3" y="1828800"/>
            <a:ext cx="1810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Cast Ballot (/ballot)</a:t>
            </a:r>
          </a:p>
          <a:p>
            <a:br/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Selects candidates across portfolios, reads manifestos, reviews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1993392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5" y="1828800"/>
            <a:ext cx="1810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4. Digital Receipt (/success)</a:t>
            </a:r>
          </a:p>
          <a:p>
            <a:br/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Receives confetti, audit token (NLC-VOTE-XXXX), prints receipt voucher.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1993392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828800"/>
            <a:ext cx="1810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D6A0"/>
                </a:solidFill>
              </a:defRPr>
            </a:pPr>
            <a:r>
              <a:t>5. Live Results (/results)</a:t>
            </a:r>
          </a:p>
          <a:p>
            <a:br/>
            <a:pPr>
              <a:spcBef>
                <a:spcPts val="400"/>
              </a:spcBef>
              <a:defRPr sz="1150">
                <a:solidFill>
                  <a:srgbClr val="CBD5E1"/>
                </a:solidFill>
              </a:defRPr>
            </a:pPr>
            <a:r>
              <a:t>Streams public real-time tallies, candidate charts, and turnout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ELECTORAL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EC Admin Command Center &amp; Telemetry (/admin)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2103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📁 Voter Ledger Management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Bulk Excel (.xlsx) Import &amp; Export</a:t>
            </a:r>
            <a:br/>
            <a:r>
              <a:t>• Filter by Department, Level &amp; Status</a:t>
            </a:r>
            <a:br/>
            <a:r>
              <a:t>• Manual Accreditation &amp; Vote Resets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D6A0"/>
                </a:solidFill>
              </a:defRPr>
            </a:pPr>
            <a:r>
              <a:t>👥 Registration Approval Queue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Review self-registered student requests</a:t>
            </a:r>
            <a:br/>
            <a:r>
              <a:t>• Single-click Approve / Reject actions</a:t>
            </a:r>
            <a:br/>
            <a:r>
              <a:t>• Automated WhatsApp status 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42255" cy="2103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🎚️ Master Election Controls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Start, Pause, or Close Election voting</a:t>
            </a:r>
            <a:br/>
            <a:r>
              <a:t>• Toggle student self-registration ON/OFF</a:t>
            </a:r>
            <a:br/>
            <a:r>
              <a:t>• One-click Live Results Publishing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42255" cy="2103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764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📜 Real-Time Security Audit Trail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Live streaming telemetry of all actions</a:t>
            </a:r>
            <a:br/>
            <a:r>
              <a:t>• IP address &amp; timestamp logging</a:t>
            </a:r>
            <a:br/>
            <a:r>
              <a:t>• Audit logs for administrative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ENGINEERING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Full-Stack Technology Stack &amp; Docker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🎨 Frontend Tier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Next.js 14 (App Router)</a:t>
            </a:r>
            <a:br/>
            <a:r>
              <a:t>• TypeScript &amp; Tailwind CSS</a:t>
            </a:r>
            <a:br/>
            <a:r>
              <a:t>• Lucide React Icons &amp; SheetJS</a:t>
            </a:r>
            <a:br/>
            <a:r>
              <a:t>• Canvas Confetti &amp; Modern Glass UI</a:t>
            </a:r>
            <a:br/>
            <a:r>
              <a:t>• Port :3000 Exposure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D6A0"/>
                </a:solidFill>
              </a:defRPr>
            </a:pPr>
            <a:r>
              <a:t>⚙️ Backend API Tier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Node.js &amp; Express REST API</a:t>
            </a:r>
            <a:br/>
            <a:r>
              <a:t>• TypeScript compiled build</a:t>
            </a:r>
            <a:br/>
            <a:r>
              <a:t>• SHA-256 Cryptography &amp; JWT</a:t>
            </a:r>
            <a:br/>
            <a:r>
              <a:t>• Levanter WhatsApp Client Service</a:t>
            </a:r>
            <a:br/>
            <a:r>
              <a:t>• Port :5000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🗄️ Database &amp; Storage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MySQL 8.0 with InnoDB Engine</a:t>
            </a:r>
            <a:br/>
            <a:r>
              <a:t>• ACID Row-Level Pessimistic Locks</a:t>
            </a:r>
            <a:br/>
            <a:r>
              <a:t>• Isolated Bridge Network (No SQL exposure)</a:t>
            </a:r>
            <a:br/>
            <a:r>
              <a:t>• Persistent db_data volume mount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🐳 Docker Orchestration</a:t>
            </a:r>
          </a:p>
          <a:p>
            <a:br/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• docker-compose.yml multi-service</a:t>
            </a:r>
            <a:br/>
            <a:r>
              <a:t>• Multi-stage lightweight Dockerfiles</a:t>
            </a:r>
            <a:br/>
            <a:r>
              <a:t>• Environment-variable driven config</a:t>
            </a:r>
            <a:br/>
            <a:r>
              <a:t>• 1-Command Startup: docker compose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CYBERSECURITY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Threat Vector &amp; Defense Mitigation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⚠️ Threat: Voter Impersonation</a:t>
            </a:r>
          </a:p>
          <a:p>
            <a:pPr>
              <a:spcBef>
                <a:spcPts val="200"/>
              </a:spcBef>
              <a:defRPr sz="1200">
                <a:solidFill>
                  <a:srgbClr val="06D6A0"/>
                </a:solidFill>
              </a:defRPr>
            </a:pPr>
            <a:r>
              <a:t>🛡️ Defense: Closed-loop WhatsApp OTP delivered strictly to pre-registered phone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⚠️ Threat: Double Voting &amp; Race Conditions</a:t>
            </a:r>
          </a:p>
          <a:p>
            <a:pPr>
              <a:spcBef>
                <a:spcPts val="200"/>
              </a:spcBef>
              <a:defRPr sz="1200">
                <a:solidFill>
                  <a:srgbClr val="06D6A0"/>
                </a:solidFill>
              </a:defRPr>
            </a:pPr>
            <a:r>
              <a:t>🛡️ Defense: InnoDB SELECT ... FOR UPDATE exclusive locks execute atomic state transitions.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⚠️ Threat: Ballot Traceability &amp; De-anonymization</a:t>
            </a:r>
          </a:p>
          <a:p>
            <a:pPr>
              <a:spcBef>
                <a:spcPts val="200"/>
              </a:spcBef>
              <a:defRPr sz="1200">
                <a:solidFill>
                  <a:srgbClr val="06D6A0"/>
                </a:solidFill>
              </a:defRPr>
            </a:pPr>
            <a:r>
              <a:t>🛡️ Defense: Decoupled Two-Box schema with zero foreign keys or user IDs in votes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⚠️ Threat: Brute-Force OTP Attacks</a:t>
            </a:r>
          </a:p>
          <a:p>
            <a:pPr>
              <a:spcBef>
                <a:spcPts val="200"/>
              </a:spcBef>
              <a:defRPr sz="1200">
                <a:solidFill>
                  <a:srgbClr val="06D6A0"/>
                </a:solidFill>
              </a:defRPr>
            </a:pPr>
            <a:r>
              <a:t>🛡️ Defense: 5-minute OTP expiration timestamps, single-use invalidation, and rate-limiting cooldowns.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59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⚠️ Threat: SQL Injection &amp; Parameter Tampering</a:t>
            </a:r>
          </a:p>
          <a:p>
            <a:pPr>
              <a:spcBef>
                <a:spcPts val="200"/>
              </a:spcBef>
              <a:defRPr sz="1200">
                <a:solidFill>
                  <a:srgbClr val="06D6A0"/>
                </a:solidFill>
              </a:defRPr>
            </a:pPr>
            <a:r>
              <a:t>🛡️ Defense: Strict prepared parameterized queries across all database access controllers.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EMPIRICAL 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Performance &amp; Institutional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&lt; 45 Seconds</a:t>
            </a:r>
          </a:p>
          <a:p>
            <a:br/>
            <a:pPr algn="ctr">
              <a:defRPr sz="1400" b="1">
                <a:solidFill>
                  <a:srgbClr val="FFFFFF"/>
                </a:solidFill>
              </a:defRPr>
            </a:pPr>
            <a:r>
              <a:t>Average Voting Duration</a:t>
            </a:r>
          </a:p>
          <a:p>
            <a:br/>
            <a:pPr algn="ctr">
              <a:defRPr sz="1150">
                <a:solidFill>
                  <a:srgbClr val="CBD5E1"/>
                </a:solidFill>
              </a:defRPr>
            </a:pPr>
            <a:r>
              <a:t>Frictionless mobile UI enables rapid student participation.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</a:defRPr>
            </a:pPr>
            <a:r>
              <a:t>1.2 - 2.5s</a:t>
            </a:r>
          </a:p>
          <a:p>
            <a:br/>
            <a:pPr algn="ctr">
              <a:defRPr sz="1400" b="1">
                <a:solidFill>
                  <a:srgbClr val="FFFFFF"/>
                </a:solidFill>
              </a:defRPr>
            </a:pPr>
            <a:r>
              <a:t>WhatsApp OTP Latency</a:t>
            </a:r>
          </a:p>
          <a:p>
            <a:br/>
            <a:pPr algn="ctr">
              <a:defRPr sz="1150">
                <a:solidFill>
                  <a:srgbClr val="CBD5E1"/>
                </a:solidFill>
              </a:defRPr>
            </a:pPr>
            <a:r>
              <a:t>Instant code delivery via Levanter gateway on Pterodactyl VPS.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0.00 Seconds</a:t>
            </a:r>
          </a:p>
          <a:p>
            <a:br/>
            <a:pPr algn="ctr">
              <a:defRPr sz="1400" b="1">
                <a:solidFill>
                  <a:srgbClr val="FFFFFF"/>
                </a:solidFill>
              </a:defRPr>
            </a:pPr>
            <a:r>
              <a:t>Result Collation Time</a:t>
            </a:r>
          </a:p>
          <a:p>
            <a:br/>
            <a:pPr algn="ctr">
              <a:defRPr sz="1150">
                <a:solidFill>
                  <a:srgbClr val="CBD5E1"/>
                </a:solidFill>
              </a:defRPr>
            </a:pPr>
            <a:r>
              <a:t>Real-time automated SQL aggregations replace hours of manual counting.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146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100% Zero-Trust</a:t>
            </a:r>
          </a:p>
          <a:p>
            <a:br/>
            <a:pPr algn="ctr">
              <a:defRPr sz="1400" b="1">
                <a:solidFill>
                  <a:srgbClr val="FFFFFF"/>
                </a:solidFill>
              </a:defRPr>
            </a:pPr>
            <a:r>
              <a:t>Ballot Secrecy Guarantee</a:t>
            </a:r>
          </a:p>
          <a:p>
            <a:br/>
            <a:pPr algn="ctr">
              <a:defRPr sz="1150">
                <a:solidFill>
                  <a:srgbClr val="CBD5E1"/>
                </a:solidFill>
              </a:defRPr>
            </a:pPr>
            <a:r>
              <a:t>Mathematically unbreachable isolation between voters and votes.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SUMMARY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Next-Generation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🏁 Key Conclusions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Proven Viability: Replaced vulnerable Google Forms with an institutional, containerized digital voting platform.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Total Ballot Secrecy: Achieved zero linkability between voters and cast votes via the Two-Box model.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Cost-Effective WhatsApp OTP: Avoided expensive telecom SMS fees using open Levanter API integrations.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Instant Democratic Transparency: Live analytical dashboards eliminated post-election disputes.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645920"/>
            <a:ext cx="5029200" cy="43891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🔮 Future Roadmap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WebAuthn Biometrics: Fingerprint &amp; FaceID login via mobile browsers for instant passkey authentication.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Public Blockchain Anchoring: Periodic zero-knowledge ballot batch hashing to an immutable public ledger.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Multi-Campus Multi-Tenancy: Expanding the platform to support collegiate branches across sister institutions.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AI Electoral Forensics: Anomaly detection on voting patterns to detect localized coercion.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